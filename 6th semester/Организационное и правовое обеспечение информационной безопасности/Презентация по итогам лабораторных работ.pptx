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B7D40-2668-4A7C-B252-B4563C4A2F0B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2BF11E-00F6-4960-8D7B-8814B96E25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7642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2BF11E-00F6-4960-8D7B-8814B96E25B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8550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5CC0C102-3C51-4D38-A411-E5204180CF4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1AE20039-B354-4834-9201-88FE1D5CB7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2021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0C102-3C51-4D38-A411-E5204180CF4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0039-B354-4834-9201-88FE1D5CB7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9132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CC0C102-3C51-4D38-A411-E5204180CF4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AE20039-B354-4834-9201-88FE1D5CB7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1967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0C102-3C51-4D38-A411-E5204180CF4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0039-B354-4834-9201-88FE1D5CB7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8749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0C102-3C51-4D38-A411-E5204180CF4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0039-B354-4834-9201-88FE1D5CB7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9466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0C102-3C51-4D38-A411-E5204180CF4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0039-B354-4834-9201-88FE1D5CB7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7090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0C102-3C51-4D38-A411-E5204180CF4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0039-B354-4834-9201-88FE1D5CB7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2899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0C102-3C51-4D38-A411-E5204180CF4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0039-B354-4834-9201-88FE1D5CB7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261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0C102-3C51-4D38-A411-E5204180CF4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0039-B354-4834-9201-88FE1D5CB7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0609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0C102-3C51-4D38-A411-E5204180CF4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0039-B354-4834-9201-88FE1D5CB7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7164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CC0C102-3C51-4D38-A411-E5204180CF4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AE20039-B354-4834-9201-88FE1D5CB7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4276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CC0C102-3C51-4D38-A411-E5204180CF4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AE20039-B354-4834-9201-88FE1D5CB7F2}" type="slidenum">
              <a:rPr lang="ru-RU" smtClean="0"/>
              <a:t>‹#›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889592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CC0C102-3C51-4D38-A411-E5204180CF4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AE20039-B354-4834-9201-88FE1D5CB7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75743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0C102-3C51-4D38-A411-E5204180CF4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0039-B354-4834-9201-88FE1D5CB7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10013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0C102-3C51-4D38-A411-E5204180CF4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0039-B354-4834-9201-88FE1D5CB7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7260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0C102-3C51-4D38-A411-E5204180CF4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20039-B354-4834-9201-88FE1D5CB7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59879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CC0C102-3C51-4D38-A411-E5204180CF4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AE20039-B354-4834-9201-88FE1D5CB7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6850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0C102-3C51-4D38-A411-E5204180CF4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20039-B354-4834-9201-88FE1D5CB7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10097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1311FC-2C23-F7A2-1CF7-FB6FE8562F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sz="3600" b="1" dirty="0"/>
              <a:t>Презентация по итогам лабораторных работ</a:t>
            </a:r>
            <a:br>
              <a:rPr lang="ru-RU" sz="3600" b="1" dirty="0"/>
            </a:br>
            <a:r>
              <a:rPr lang="ru-RU" sz="3600" b="1" dirty="0"/>
              <a:t>«Организационное и правовое обеспечение информационной безопасности»</a:t>
            </a:r>
            <a:br>
              <a:rPr lang="ru-RU" sz="3600" b="1" dirty="0"/>
            </a:br>
            <a:endParaRPr lang="ru-RU" sz="36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F8DE4EA-2AFE-1B60-4779-0F1726488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9448800" cy="685800"/>
          </a:xfrm>
        </p:spPr>
        <p:txBody>
          <a:bodyPr>
            <a:noAutofit/>
          </a:bodyPr>
          <a:lstStyle/>
          <a:p>
            <a:r>
              <a:rPr lang="ru-RU" sz="2400" dirty="0" err="1"/>
              <a:t>Бардышев</a:t>
            </a:r>
            <a:r>
              <a:rPr lang="ru-RU" sz="2400" dirty="0"/>
              <a:t> Артём Антонович</a:t>
            </a:r>
            <a:r>
              <a:rPr lang="en-US" sz="2400" dirty="0"/>
              <a:t>, </a:t>
            </a:r>
            <a:r>
              <a:rPr lang="ru-RU" sz="2400" dirty="0"/>
              <a:t>408221</a:t>
            </a:r>
          </a:p>
          <a:p>
            <a:r>
              <a:rPr lang="ru-RU" sz="2400" dirty="0"/>
              <a:t>ОПОИБ_ТЗИ_</a:t>
            </a:r>
            <a:r>
              <a:rPr lang="en-US" sz="2400" dirty="0"/>
              <a:t>N3 1.1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6050523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30522C-0D12-5ABB-68FB-81CDA89DF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Информационная безопасность: понятие, эволюция и соотношение с кибербезопасностью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E2E582-D4CE-9411-6ADA-68C187010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654710"/>
            <a:ext cx="5783826" cy="3563975"/>
          </a:xfrm>
        </p:spPr>
        <p:txBody>
          <a:bodyPr>
            <a:normAutofit fontScale="92500" lnSpcReduction="10000"/>
          </a:bodyPr>
          <a:lstStyle/>
          <a:p>
            <a:r>
              <a:rPr lang="ru-RU" sz="2800" b="1" dirty="0"/>
              <a:t>Триада CIA + расширенные свойства:</a:t>
            </a:r>
            <a:endParaRPr lang="ru-RU" sz="2800" dirty="0"/>
          </a:p>
          <a:p>
            <a:r>
              <a:rPr lang="ru-RU" sz="2800" dirty="0"/>
              <a:t>Конфиденциальность</a:t>
            </a:r>
          </a:p>
          <a:p>
            <a:r>
              <a:rPr lang="ru-RU" sz="2800" dirty="0"/>
              <a:t>Целостность</a:t>
            </a:r>
          </a:p>
          <a:p>
            <a:r>
              <a:rPr lang="ru-RU" sz="2800" dirty="0"/>
              <a:t>Доступность</a:t>
            </a:r>
          </a:p>
          <a:p>
            <a:r>
              <a:rPr lang="ru-RU" sz="2800" dirty="0"/>
              <a:t>Аутентичность</a:t>
            </a:r>
          </a:p>
          <a:p>
            <a:r>
              <a:rPr lang="ru-RU" sz="2800" dirty="0" err="1"/>
              <a:t>Неотказуемость</a:t>
            </a:r>
            <a:endParaRPr lang="ru-RU" sz="2800" dirty="0"/>
          </a:p>
          <a:p>
            <a:r>
              <a:rPr lang="ru-RU" sz="2800" dirty="0"/>
              <a:t>Подотчетность</a:t>
            </a:r>
            <a:endParaRPr lang="ru-RU" sz="2600" dirty="0"/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B8ABF0-ACCE-3991-A45A-5737A7C84240}"/>
              </a:ext>
            </a:extLst>
          </p:cNvPr>
          <p:cNvSpPr txBox="1"/>
          <p:nvPr/>
        </p:nvSpPr>
        <p:spPr>
          <a:xfrm>
            <a:off x="6656440" y="2654710"/>
            <a:ext cx="499478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Ключевые особенности кибербезопасности:</a:t>
            </a:r>
            <a:endParaRPr lang="ru-RU" sz="2800" dirty="0"/>
          </a:p>
          <a:p>
            <a:r>
              <a:rPr lang="ru-RU" sz="2800" dirty="0"/>
              <a:t>Глобальность и </a:t>
            </a:r>
            <a:r>
              <a:rPr lang="ru-RU" sz="2800" dirty="0" err="1"/>
              <a:t>трансграничность</a:t>
            </a:r>
            <a:endParaRPr lang="ru-RU" sz="2800" dirty="0"/>
          </a:p>
          <a:p>
            <a:r>
              <a:rPr lang="ru-RU" sz="2800" dirty="0"/>
              <a:t>Асимметричность (атака дешевле защиты)</a:t>
            </a:r>
          </a:p>
          <a:p>
            <a:r>
              <a:rPr lang="ru-RU" sz="2800" dirty="0"/>
              <a:t>Высокая динамичность угроз</a:t>
            </a:r>
          </a:p>
          <a:p>
            <a:r>
              <a:rPr lang="ru-RU" sz="2800" dirty="0"/>
              <a:t>Проблема атрибуции</a:t>
            </a:r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9706086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37FCC0-FA72-F3B2-91EC-0CFBE72F3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Система нормативного регулирования информационной безопасности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3B5CEC-A8AE-1D19-55FB-E21E82436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6560574" cy="40241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/>
              <a:t>Иерархия НПА в сфере ИБ: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Конституция РФ</a:t>
            </a:r>
            <a:r>
              <a:rPr lang="ru-RU" dirty="0"/>
              <a:t> (ст. 23, 24, 29)</a:t>
            </a:r>
          </a:p>
          <a:p>
            <a:pPr marL="0" indent="0">
              <a:buNone/>
            </a:pPr>
            <a:r>
              <a:rPr lang="ru-RU" b="1" dirty="0"/>
              <a:t>Федеральные законы:</a:t>
            </a:r>
            <a:endParaRPr lang="ru-RU" dirty="0"/>
          </a:p>
          <a:p>
            <a:pPr lvl="1"/>
            <a:r>
              <a:rPr lang="ru-RU" dirty="0"/>
              <a:t>№ 149-ФЗ «Об информации...» (базовый)</a:t>
            </a:r>
          </a:p>
          <a:p>
            <a:pPr lvl="1"/>
            <a:r>
              <a:rPr lang="ru-RU" dirty="0"/>
              <a:t>№ 152-ФЗ «О персональных данных»</a:t>
            </a:r>
          </a:p>
          <a:p>
            <a:pPr lvl="1"/>
            <a:r>
              <a:rPr lang="ru-RU" dirty="0"/>
              <a:t>№ 187-ФЗ «О безопасности КИИ»</a:t>
            </a:r>
          </a:p>
          <a:p>
            <a:pPr marL="0" indent="0">
              <a:buNone/>
            </a:pPr>
            <a:r>
              <a:rPr lang="ru-RU" b="1" dirty="0"/>
              <a:t>Указы Президента</a:t>
            </a:r>
            <a:r>
              <a:rPr lang="ru-RU" dirty="0"/>
              <a:t> (Стратегия нацбезопасности, Доктрина ИБ)</a:t>
            </a:r>
          </a:p>
          <a:p>
            <a:pPr marL="0" indent="0">
              <a:buNone/>
            </a:pPr>
            <a:r>
              <a:rPr lang="ru-RU" b="1" dirty="0"/>
              <a:t>Постановления Правительства</a:t>
            </a:r>
            <a:r>
              <a:rPr lang="ru-RU" dirty="0"/>
              <a:t> (№ 1119 — защита </a:t>
            </a:r>
            <a:r>
              <a:rPr lang="ru-RU" dirty="0" err="1"/>
              <a:t>ПДн</a:t>
            </a:r>
            <a:r>
              <a:rPr lang="ru-RU" dirty="0"/>
              <a:t>, № 127 — категорирование КИИ)</a:t>
            </a:r>
          </a:p>
          <a:p>
            <a:pPr marL="0" indent="0">
              <a:buNone/>
            </a:pPr>
            <a:r>
              <a:rPr lang="ru-RU" b="1" dirty="0"/>
              <a:t>Ведомственные акты</a:t>
            </a:r>
            <a:r>
              <a:rPr lang="ru-RU" dirty="0"/>
              <a:t> (ФСТЭК, ФСБ, Роскомнадзор)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6034E-8991-4E54-2B1B-1C8585BBBCEC}"/>
              </a:ext>
            </a:extLst>
          </p:cNvPr>
          <p:cNvSpPr txBox="1"/>
          <p:nvPr/>
        </p:nvSpPr>
        <p:spPr>
          <a:xfrm>
            <a:off x="7626699" y="2662813"/>
            <a:ext cx="340639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Ключевые требования ФЗ № 152-ФЗ (персональные данные):</a:t>
            </a:r>
            <a:endParaRPr lang="ru-RU" dirty="0"/>
          </a:p>
          <a:p>
            <a:r>
              <a:rPr lang="ru-RU" dirty="0"/>
              <a:t>Согласие на обработку — конкретное, информированное, однозначное</a:t>
            </a:r>
          </a:p>
          <a:p>
            <a:r>
              <a:rPr lang="ru-RU" dirty="0"/>
              <a:t>Уведомление об утечке: 24 часа (операторы КИИ), 72 часа (общий срок)</a:t>
            </a:r>
          </a:p>
          <a:p>
            <a:r>
              <a:rPr lang="ru-RU" dirty="0"/>
              <a:t>Оборотные штрафы до 3% выручки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69218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4A8259-8F48-4C8D-6E7E-CB456A022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3781" y="1098670"/>
            <a:ext cx="6570406" cy="553150"/>
          </a:xfrm>
        </p:spPr>
        <p:txBody>
          <a:bodyPr>
            <a:normAutofit fontScale="90000"/>
          </a:bodyPr>
          <a:lstStyle/>
          <a:p>
            <a:r>
              <a:rPr lang="ru-RU" dirty="0"/>
              <a:t>Организационная защита: управление доступом и работа с персоналом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09109B-037A-9852-5163-BF5A20571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1045" y="1651820"/>
            <a:ext cx="9586454" cy="536327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dirty="0"/>
              <a:t>Модели организационной структуры ИБ: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Централизованная</a:t>
            </a:r>
            <a:r>
              <a:rPr lang="ru-RU" dirty="0"/>
              <a:t> — единый департамент, единые стандарты</a:t>
            </a:r>
          </a:p>
          <a:p>
            <a:pPr marL="0" indent="0">
              <a:buNone/>
            </a:pPr>
            <a:r>
              <a:rPr lang="ru-RU" b="1" dirty="0"/>
              <a:t>Децентрализованная</a:t>
            </a:r>
            <a:r>
              <a:rPr lang="ru-RU" dirty="0"/>
              <a:t> — ИБ в каждой бизнес-единице</a:t>
            </a:r>
          </a:p>
          <a:p>
            <a:pPr marL="0" indent="0">
              <a:buNone/>
            </a:pPr>
            <a:r>
              <a:rPr lang="ru-RU" b="1" dirty="0"/>
              <a:t>Гибридная</a:t>
            </a:r>
            <a:r>
              <a:rPr lang="ru-RU" dirty="0"/>
              <a:t> — центр + кураторы в подразделениях </a:t>
            </a:r>
            <a:r>
              <a:rPr lang="ru-RU" i="1" dirty="0"/>
              <a:t>(оптимальна для крупных организаций)</a:t>
            </a:r>
            <a:endParaRPr lang="en-US" i="1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Жизненный цикл управления доступом: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Инициирование → Согласование → Предоставление → Мониторинг → Завершение</a:t>
            </a:r>
          </a:p>
          <a:p>
            <a:pPr marL="0" indent="0">
              <a:buNone/>
            </a:pPr>
            <a:r>
              <a:rPr lang="ru-RU" i="1" dirty="0"/>
              <a:t>Ключевое требование:</a:t>
            </a:r>
            <a:r>
              <a:rPr lang="ru-RU" dirty="0"/>
              <a:t> немедленный отзыв доступа при увольнении</a:t>
            </a:r>
            <a:endParaRPr lang="en-US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Статистика инцидентов: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60–85% инцидентов связаны с человеческим фактором</a:t>
            </a:r>
          </a:p>
          <a:p>
            <a:pPr marL="0" indent="0">
              <a:buNone/>
            </a:pPr>
            <a:r>
              <a:rPr lang="ru-RU" dirty="0"/>
              <a:t>Фишинг, социальная инженерия, нарушение парольной гигиены</a:t>
            </a:r>
            <a:endParaRPr lang="en-US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Программа повышения осведомленности (</a:t>
            </a:r>
            <a:r>
              <a:rPr lang="ru-RU" b="1" dirty="0" err="1"/>
              <a:t>Awareness</a:t>
            </a:r>
            <a:r>
              <a:rPr lang="ru-RU" b="1" dirty="0"/>
              <a:t>):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Ежемесячные модули (фишинг, пароли, удаленная работа, инциденты)</a:t>
            </a:r>
          </a:p>
          <a:p>
            <a:pPr marL="0" indent="0">
              <a:buNone/>
            </a:pPr>
            <a:r>
              <a:rPr lang="ru-RU" dirty="0"/>
              <a:t>Тестовые фишинговые рассылки</a:t>
            </a:r>
          </a:p>
          <a:p>
            <a:pPr marL="0" indent="0">
              <a:buNone/>
            </a:pPr>
            <a:r>
              <a:rPr lang="ru-RU" dirty="0"/>
              <a:t>Геймификация: рейтинг подразделений, бонусы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36074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940071-37C9-E6BB-6F81-90227390E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Инженерно-техническая защита: средства, каналы утечки, проект оснащения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BD3D99-ABAF-FB4D-4B3D-3360AB13B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86116"/>
            <a:ext cx="4073013" cy="4232569"/>
          </a:xfrm>
        </p:spPr>
        <p:txBody>
          <a:bodyPr/>
          <a:lstStyle/>
          <a:p>
            <a:r>
              <a:rPr lang="ru-RU" b="1" dirty="0"/>
              <a:t>Классификация средств ИТЗИ: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Физические средства (заборы, двери, СКУД)</a:t>
            </a:r>
          </a:p>
          <a:p>
            <a:pPr marL="0" indent="0">
              <a:buNone/>
            </a:pPr>
            <a:r>
              <a:rPr lang="ru-RU" dirty="0"/>
              <a:t>Технические средства обнаружения (ОПС, видеонаблюдение)</a:t>
            </a:r>
          </a:p>
          <a:p>
            <a:pPr marL="0" indent="0">
              <a:buNone/>
            </a:pPr>
            <a:r>
              <a:rPr lang="ru-RU" dirty="0"/>
              <a:t>Защита от утечки по каналам (ПЭМИН, акустика, визуальная разведка)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824C67-347D-0ACF-0B59-0AA0E74B8F49}"/>
              </a:ext>
            </a:extLst>
          </p:cNvPr>
          <p:cNvSpPr txBox="1"/>
          <p:nvPr/>
        </p:nvSpPr>
        <p:spPr>
          <a:xfrm>
            <a:off x="5064369" y="2321168"/>
            <a:ext cx="660652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Проект оснащения серверной комнаты:</a:t>
            </a:r>
            <a:endParaRPr lang="ru-RU" dirty="0"/>
          </a:p>
          <a:p>
            <a:r>
              <a:rPr lang="ru-RU" dirty="0"/>
              <a:t>Биометрический СКУД (отпечаток пальца + карта)</a:t>
            </a:r>
          </a:p>
          <a:p>
            <a:r>
              <a:rPr lang="ru-RU" dirty="0"/>
              <a:t>IP-камеры с </a:t>
            </a:r>
            <a:r>
              <a:rPr lang="ru-RU" dirty="0" err="1"/>
              <a:t>видеоаналитикой</a:t>
            </a:r>
            <a:r>
              <a:rPr lang="ru-RU" dirty="0"/>
              <a:t> (распознавание лиц, детекция оставленных предметов)</a:t>
            </a:r>
          </a:p>
          <a:p>
            <a:r>
              <a:rPr lang="ru-RU" dirty="0"/>
              <a:t>Датчики: движения, открытия, протечки, дыма</a:t>
            </a:r>
          </a:p>
          <a:p>
            <a:r>
              <a:rPr lang="ru-RU" dirty="0"/>
              <a:t>Газовое пожаротушение (без повреждения оборудования)</a:t>
            </a:r>
          </a:p>
          <a:p>
            <a:r>
              <a:rPr lang="ru-RU" dirty="0"/>
              <a:t>Экранированные серверные шкафы, фильтры питания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343678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713D29-BDE1-E628-F071-B5C468489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 и перспективы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BC5EC6-900A-8575-1CFC-D7BEAF202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1" dirty="0"/>
              <a:t>Основные выводы: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Информационная безопасность — комплексная дисциплина</a:t>
            </a:r>
            <a:r>
              <a:rPr lang="ru-RU" dirty="0"/>
              <a:t>, объединяющая правовые, организационные и технические меры. Кибербезопасность имеет свою специфику (глобальность, асимметричность).</a:t>
            </a:r>
          </a:p>
          <a:p>
            <a:pPr marL="0" indent="0">
              <a:buNone/>
            </a:pPr>
            <a:r>
              <a:rPr lang="ru-RU" b="1" dirty="0"/>
              <a:t>Правовое регулирование</a:t>
            </a:r>
            <a:r>
              <a:rPr lang="ru-RU" dirty="0"/>
              <a:t> требует развития: необходим единый закон о кибербезопасности, единый реестр инцидентов, гармонизация с международными подходами.</a:t>
            </a:r>
          </a:p>
          <a:p>
            <a:pPr marL="0" indent="0">
              <a:buNone/>
            </a:pPr>
            <a:r>
              <a:rPr lang="ru-RU" b="1" dirty="0"/>
              <a:t>Организационная защита</a:t>
            </a:r>
            <a:r>
              <a:rPr lang="ru-RU" dirty="0"/>
              <a:t> является фундаментом: без четких регламентов и обучения персонала технические средства неэффективны. Ключевые элементы — управление доступом и повышение осведомленности.</a:t>
            </a:r>
          </a:p>
          <a:p>
            <a:pPr marL="0" indent="0">
              <a:buNone/>
            </a:pPr>
            <a:r>
              <a:rPr lang="ru-RU" b="1" dirty="0"/>
              <a:t>Инженерно-техническая защита</a:t>
            </a:r>
            <a:r>
              <a:rPr lang="ru-RU" dirty="0"/>
              <a:t> обеспечивает физическую безопасность объектов и защиту от утечки по техническим каналам. Современные системы должны быть интегрированными и интеллектуальными (видеоаналитика, биометрия).</a:t>
            </a:r>
          </a:p>
          <a:p>
            <a:r>
              <a:rPr lang="ru-RU" b="1" dirty="0"/>
              <a:t>Перспективы развития: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Разработка методик количественной оценки эффективности мер защиты</a:t>
            </a:r>
          </a:p>
          <a:p>
            <a:pPr marL="0" indent="0">
              <a:buNone/>
            </a:pPr>
            <a:r>
              <a:rPr lang="ru-RU" dirty="0"/>
              <a:t>Внедрение искусственного интеллекта для прогнозирования инцидентов</a:t>
            </a:r>
          </a:p>
          <a:p>
            <a:pPr marL="0" indent="0">
              <a:buNone/>
            </a:pPr>
            <a:r>
              <a:rPr lang="ru-RU" dirty="0"/>
              <a:t>Гармонизация российского законодательства с международными стандартами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54243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9188AE-2FF6-A59E-451C-6663C51C8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34" y="764372"/>
            <a:ext cx="9163664" cy="5016995"/>
          </a:xfrm>
        </p:spPr>
        <p:txBody>
          <a:bodyPr/>
          <a:lstStyle/>
          <a:p>
            <a:r>
              <a:rPr lang="ru-RU" dirty="0"/>
              <a:t>Спасибо за внимание!!!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35583"/>
      </p:ext>
    </p:extLst>
  </p:cSld>
  <p:clrMapOvr>
    <a:masterClrMapping/>
  </p:clrMapOvr>
</p:sld>
</file>

<file path=ppt/theme/theme1.xml><?xml version="1.0" encoding="utf-8"?>
<a:theme xmlns:a="http://schemas.openxmlformats.org/drawingml/2006/main" name="След самолета">
  <a:themeElements>
    <a:clrScheme name="След самолета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След самолета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ед самолета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TM04033937[[fn=След самолета]]</Template>
  <TotalTime>14</TotalTime>
  <Words>511</Words>
  <Application>Microsoft Office PowerPoint</Application>
  <PresentationFormat>Широкоэкранный</PresentationFormat>
  <Paragraphs>71</Paragraphs>
  <Slides>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Century Gothic</vt:lpstr>
      <vt:lpstr>След самолета</vt:lpstr>
      <vt:lpstr>Презентация по итогам лабораторных работ «Организационное и правовое обеспечение информационной безопасности» </vt:lpstr>
      <vt:lpstr>Информационная безопасность: понятие, эволюция и соотношение с кибербезопасностью</vt:lpstr>
      <vt:lpstr>Система нормативного регулирования информационной безопасности</vt:lpstr>
      <vt:lpstr>Организационная защита: управление доступом и работа с персоналом</vt:lpstr>
      <vt:lpstr>Инженерно-техническая защита: средства, каналы утечки, проект оснащения</vt:lpstr>
      <vt:lpstr>Выводы и перспективы</vt:lpstr>
      <vt:lpstr>Спасибо за внимание!!!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Herbert Hubbard</dc:creator>
  <cp:lastModifiedBy>Herbert Hubbard</cp:lastModifiedBy>
  <cp:revision>1</cp:revision>
  <dcterms:created xsi:type="dcterms:W3CDTF">2026-03-25T18:46:42Z</dcterms:created>
  <dcterms:modified xsi:type="dcterms:W3CDTF">2026-03-25T19:01:05Z</dcterms:modified>
</cp:coreProperties>
</file>